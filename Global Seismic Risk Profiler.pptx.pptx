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3789461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Global Seismic Risk Profiler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5929461"/>
            <a:ext cx="9445526" cy="86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Data Engineering Pipeline on Microsoft Fabric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By </a:t>
            </a: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Mrudula Kamdi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320016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3421" y="919014"/>
            <a:ext cx="9543158" cy="25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Challenge: Transforming Noise into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3421" y="3793182"/>
            <a:ext cx="9543158" cy="138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Earthquake risk is a critical financial metric for insurance companies and urban planners. Raw seismic telemetry from the USGS API is highly detailed but too granular for decision-making.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8659" y="5480298"/>
            <a:ext cx="4646265" cy="2012751"/>
            <a:chOff x="0" y="0"/>
            <a:chExt cx="6195020" cy="2683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182360" cy="2671064"/>
            </a:xfrm>
            <a:custGeom>
              <a:avLst/>
              <a:gdLst/>
              <a:ahLst/>
              <a:cxnLst/>
              <a:rect r="r" b="b" t="t" l="l"/>
              <a:pathLst>
                <a:path h="2671064" w="6182360">
                  <a:moveTo>
                    <a:pt x="0" y="151003"/>
                  </a:moveTo>
                  <a:cubicBezTo>
                    <a:pt x="0" y="67564"/>
                    <a:pt x="67818" y="0"/>
                    <a:pt x="151384" y="0"/>
                  </a:cubicBezTo>
                  <a:lnTo>
                    <a:pt x="6030976" y="0"/>
                  </a:lnTo>
                  <a:cubicBezTo>
                    <a:pt x="6114542" y="0"/>
                    <a:pt x="6182360" y="67564"/>
                    <a:pt x="6182360" y="151003"/>
                  </a:cubicBezTo>
                  <a:lnTo>
                    <a:pt x="6182360" y="2520061"/>
                  </a:lnTo>
                  <a:cubicBezTo>
                    <a:pt x="6182360" y="2603373"/>
                    <a:pt x="6114542" y="2671064"/>
                    <a:pt x="6030976" y="2671064"/>
                  </a:cubicBezTo>
                  <a:lnTo>
                    <a:pt x="151384" y="2671064"/>
                  </a:lnTo>
                  <a:cubicBezTo>
                    <a:pt x="67818" y="2670937"/>
                    <a:pt x="0" y="2603373"/>
                    <a:pt x="0" y="2520061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95060" cy="2683764"/>
            </a:xfrm>
            <a:custGeom>
              <a:avLst/>
              <a:gdLst/>
              <a:ahLst/>
              <a:cxnLst/>
              <a:rect r="r" b="b" t="t" l="l"/>
              <a:pathLst>
                <a:path h="2683764" w="6195060">
                  <a:moveTo>
                    <a:pt x="0" y="157353"/>
                  </a:moveTo>
                  <a:cubicBezTo>
                    <a:pt x="0" y="70358"/>
                    <a:pt x="70612" y="0"/>
                    <a:pt x="157734" y="0"/>
                  </a:cubicBezTo>
                  <a:lnTo>
                    <a:pt x="6037326" y="0"/>
                  </a:lnTo>
                  <a:lnTo>
                    <a:pt x="6037326" y="6350"/>
                  </a:lnTo>
                  <a:lnTo>
                    <a:pt x="6037326" y="0"/>
                  </a:lnTo>
                  <a:cubicBezTo>
                    <a:pt x="6124448" y="0"/>
                    <a:pt x="6195060" y="70358"/>
                    <a:pt x="6195060" y="157353"/>
                  </a:cubicBezTo>
                  <a:lnTo>
                    <a:pt x="6188710" y="157353"/>
                  </a:lnTo>
                  <a:lnTo>
                    <a:pt x="6195060" y="157353"/>
                  </a:lnTo>
                  <a:lnTo>
                    <a:pt x="6195060" y="2526411"/>
                  </a:lnTo>
                  <a:lnTo>
                    <a:pt x="6188710" y="2526411"/>
                  </a:lnTo>
                  <a:lnTo>
                    <a:pt x="6195060" y="2526411"/>
                  </a:lnTo>
                  <a:cubicBezTo>
                    <a:pt x="6195060" y="2613279"/>
                    <a:pt x="6124448" y="2683764"/>
                    <a:pt x="6037326" y="2683764"/>
                  </a:cubicBezTo>
                  <a:lnTo>
                    <a:pt x="6037326" y="2677414"/>
                  </a:lnTo>
                  <a:lnTo>
                    <a:pt x="6037326" y="2683764"/>
                  </a:lnTo>
                  <a:lnTo>
                    <a:pt x="157734" y="2683764"/>
                  </a:lnTo>
                  <a:lnTo>
                    <a:pt x="157734" y="2677414"/>
                  </a:lnTo>
                  <a:lnTo>
                    <a:pt x="157734" y="2683764"/>
                  </a:lnTo>
                  <a:cubicBezTo>
                    <a:pt x="70612" y="2683637"/>
                    <a:pt x="0" y="2613279"/>
                    <a:pt x="0" y="2526411"/>
                  </a:cubicBezTo>
                  <a:lnTo>
                    <a:pt x="0" y="157353"/>
                  </a:lnTo>
                  <a:lnTo>
                    <a:pt x="6350" y="157353"/>
                  </a:lnTo>
                  <a:lnTo>
                    <a:pt x="0" y="157353"/>
                  </a:lnTo>
                  <a:moveTo>
                    <a:pt x="12700" y="157353"/>
                  </a:moveTo>
                  <a:lnTo>
                    <a:pt x="12700" y="2526411"/>
                  </a:lnTo>
                  <a:lnTo>
                    <a:pt x="6350" y="2526411"/>
                  </a:lnTo>
                  <a:lnTo>
                    <a:pt x="12700" y="2526411"/>
                  </a:lnTo>
                  <a:cubicBezTo>
                    <a:pt x="12700" y="2606294"/>
                    <a:pt x="77597" y="2671064"/>
                    <a:pt x="157734" y="2671064"/>
                  </a:cubicBezTo>
                  <a:lnTo>
                    <a:pt x="6037326" y="2671064"/>
                  </a:lnTo>
                  <a:cubicBezTo>
                    <a:pt x="6117463" y="2671064"/>
                    <a:pt x="6182360" y="2606294"/>
                    <a:pt x="6182360" y="2526411"/>
                  </a:cubicBezTo>
                  <a:lnTo>
                    <a:pt x="6182360" y="157353"/>
                  </a:lnTo>
                  <a:cubicBezTo>
                    <a:pt x="6182360" y="77470"/>
                    <a:pt x="6117463" y="12700"/>
                    <a:pt x="6037326" y="12700"/>
                  </a:cubicBezTo>
                  <a:lnTo>
                    <a:pt x="157734" y="12700"/>
                  </a:lnTo>
                  <a:lnTo>
                    <a:pt x="157734" y="6350"/>
                  </a:lnTo>
                  <a:lnTo>
                    <a:pt x="157734" y="12700"/>
                  </a:lnTo>
                  <a:cubicBezTo>
                    <a:pt x="77597" y="12700"/>
                    <a:pt x="12700" y="77470"/>
                    <a:pt x="12700" y="157353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22474" y="5745064"/>
            <a:ext cx="3369469" cy="44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Granularity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474" y="6251674"/>
            <a:ext cx="4078635" cy="95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Individual events don't reveal long-term trends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44927" y="5480298"/>
            <a:ext cx="4646414" cy="2012751"/>
            <a:chOff x="0" y="0"/>
            <a:chExt cx="6195218" cy="26836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182487" cy="2671064"/>
            </a:xfrm>
            <a:custGeom>
              <a:avLst/>
              <a:gdLst/>
              <a:ahLst/>
              <a:cxnLst/>
              <a:rect r="r" b="b" t="t" l="l"/>
              <a:pathLst>
                <a:path h="2671064" w="6182487">
                  <a:moveTo>
                    <a:pt x="0" y="151003"/>
                  </a:moveTo>
                  <a:cubicBezTo>
                    <a:pt x="0" y="67564"/>
                    <a:pt x="67818" y="0"/>
                    <a:pt x="151384" y="0"/>
                  </a:cubicBezTo>
                  <a:lnTo>
                    <a:pt x="6031103" y="0"/>
                  </a:lnTo>
                  <a:cubicBezTo>
                    <a:pt x="6114669" y="0"/>
                    <a:pt x="6182487" y="67564"/>
                    <a:pt x="6182487" y="151003"/>
                  </a:cubicBezTo>
                  <a:lnTo>
                    <a:pt x="6182487" y="2520061"/>
                  </a:lnTo>
                  <a:cubicBezTo>
                    <a:pt x="6182487" y="2603373"/>
                    <a:pt x="6114669" y="2671064"/>
                    <a:pt x="6031103" y="2671064"/>
                  </a:cubicBezTo>
                  <a:lnTo>
                    <a:pt x="151384" y="2671064"/>
                  </a:lnTo>
                  <a:cubicBezTo>
                    <a:pt x="67818" y="2670937"/>
                    <a:pt x="0" y="2603373"/>
                    <a:pt x="0" y="2520061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95187" cy="2683764"/>
            </a:xfrm>
            <a:custGeom>
              <a:avLst/>
              <a:gdLst/>
              <a:ahLst/>
              <a:cxnLst/>
              <a:rect r="r" b="b" t="t" l="l"/>
              <a:pathLst>
                <a:path h="2683764" w="6195187">
                  <a:moveTo>
                    <a:pt x="0" y="157353"/>
                  </a:moveTo>
                  <a:cubicBezTo>
                    <a:pt x="0" y="70358"/>
                    <a:pt x="70612" y="0"/>
                    <a:pt x="157734" y="0"/>
                  </a:cubicBezTo>
                  <a:lnTo>
                    <a:pt x="6037453" y="0"/>
                  </a:lnTo>
                  <a:lnTo>
                    <a:pt x="6037453" y="6350"/>
                  </a:lnTo>
                  <a:lnTo>
                    <a:pt x="6037453" y="0"/>
                  </a:lnTo>
                  <a:cubicBezTo>
                    <a:pt x="6124575" y="0"/>
                    <a:pt x="6195187" y="70358"/>
                    <a:pt x="6195187" y="157353"/>
                  </a:cubicBezTo>
                  <a:lnTo>
                    <a:pt x="6188837" y="157353"/>
                  </a:lnTo>
                  <a:lnTo>
                    <a:pt x="6195187" y="157353"/>
                  </a:lnTo>
                  <a:lnTo>
                    <a:pt x="6195187" y="2526411"/>
                  </a:lnTo>
                  <a:lnTo>
                    <a:pt x="6188837" y="2526411"/>
                  </a:lnTo>
                  <a:lnTo>
                    <a:pt x="6195187" y="2526411"/>
                  </a:lnTo>
                  <a:cubicBezTo>
                    <a:pt x="6195187" y="2613279"/>
                    <a:pt x="6124575" y="2683764"/>
                    <a:pt x="6037453" y="2683764"/>
                  </a:cubicBezTo>
                  <a:lnTo>
                    <a:pt x="6037453" y="2677414"/>
                  </a:lnTo>
                  <a:lnTo>
                    <a:pt x="6037453" y="2683764"/>
                  </a:lnTo>
                  <a:lnTo>
                    <a:pt x="157734" y="2683764"/>
                  </a:lnTo>
                  <a:lnTo>
                    <a:pt x="157734" y="2677414"/>
                  </a:lnTo>
                  <a:lnTo>
                    <a:pt x="157734" y="2683764"/>
                  </a:lnTo>
                  <a:cubicBezTo>
                    <a:pt x="70612" y="2683637"/>
                    <a:pt x="0" y="2613279"/>
                    <a:pt x="0" y="2526411"/>
                  </a:cubicBezTo>
                  <a:lnTo>
                    <a:pt x="0" y="157353"/>
                  </a:lnTo>
                  <a:lnTo>
                    <a:pt x="6350" y="157353"/>
                  </a:lnTo>
                  <a:lnTo>
                    <a:pt x="0" y="157353"/>
                  </a:lnTo>
                  <a:moveTo>
                    <a:pt x="12700" y="157353"/>
                  </a:moveTo>
                  <a:lnTo>
                    <a:pt x="12700" y="2526411"/>
                  </a:lnTo>
                  <a:lnTo>
                    <a:pt x="6350" y="2526411"/>
                  </a:lnTo>
                  <a:lnTo>
                    <a:pt x="12700" y="2526411"/>
                  </a:lnTo>
                  <a:cubicBezTo>
                    <a:pt x="12700" y="2606294"/>
                    <a:pt x="77597" y="2671064"/>
                    <a:pt x="157734" y="2671064"/>
                  </a:cubicBezTo>
                  <a:lnTo>
                    <a:pt x="6037453" y="2671064"/>
                  </a:lnTo>
                  <a:cubicBezTo>
                    <a:pt x="6117590" y="2671064"/>
                    <a:pt x="6182487" y="2606294"/>
                    <a:pt x="6182487" y="2526411"/>
                  </a:cubicBezTo>
                  <a:lnTo>
                    <a:pt x="6182487" y="157353"/>
                  </a:lnTo>
                  <a:cubicBezTo>
                    <a:pt x="6182487" y="77470"/>
                    <a:pt x="6117590" y="12700"/>
                    <a:pt x="6037453" y="12700"/>
                  </a:cubicBezTo>
                  <a:lnTo>
                    <a:pt x="157734" y="12700"/>
                  </a:lnTo>
                  <a:lnTo>
                    <a:pt x="157734" y="6350"/>
                  </a:lnTo>
                  <a:lnTo>
                    <a:pt x="157734" y="12700"/>
                  </a:lnTo>
                  <a:cubicBezTo>
                    <a:pt x="77597" y="12700"/>
                    <a:pt x="12700" y="77470"/>
                    <a:pt x="12700" y="157353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128742" y="5745064"/>
            <a:ext cx="3369469" cy="44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Quality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28742" y="6251674"/>
            <a:ext cx="4078784" cy="95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feeds contain duplicates, nulls, and schema mismatches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8659" y="7753052"/>
            <a:ext cx="9552683" cy="1581596"/>
            <a:chOff x="0" y="0"/>
            <a:chExt cx="12736910" cy="2108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724257" cy="2096135"/>
            </a:xfrm>
            <a:custGeom>
              <a:avLst/>
              <a:gdLst/>
              <a:ahLst/>
              <a:cxnLst/>
              <a:rect r="r" b="b" t="t" l="l"/>
              <a:pathLst>
                <a:path h="2096135" w="12724257">
                  <a:moveTo>
                    <a:pt x="0" y="151003"/>
                  </a:moveTo>
                  <a:cubicBezTo>
                    <a:pt x="0" y="67564"/>
                    <a:pt x="67945" y="0"/>
                    <a:pt x="151765" y="0"/>
                  </a:cubicBezTo>
                  <a:lnTo>
                    <a:pt x="12572492" y="0"/>
                  </a:lnTo>
                  <a:cubicBezTo>
                    <a:pt x="12656312" y="0"/>
                    <a:pt x="12724257" y="67564"/>
                    <a:pt x="12724257" y="151003"/>
                  </a:cubicBezTo>
                  <a:lnTo>
                    <a:pt x="12724257" y="1945132"/>
                  </a:lnTo>
                  <a:cubicBezTo>
                    <a:pt x="12724257" y="2028444"/>
                    <a:pt x="12656312" y="2096135"/>
                    <a:pt x="12572492" y="2096135"/>
                  </a:cubicBezTo>
                  <a:lnTo>
                    <a:pt x="151765" y="2096135"/>
                  </a:lnTo>
                  <a:cubicBezTo>
                    <a:pt x="67945" y="2096135"/>
                    <a:pt x="0" y="2028571"/>
                    <a:pt x="0" y="1945132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36957" cy="2108835"/>
            </a:xfrm>
            <a:custGeom>
              <a:avLst/>
              <a:gdLst/>
              <a:ahLst/>
              <a:cxnLst/>
              <a:rect r="r" b="b" t="t" l="l"/>
              <a:pathLst>
                <a:path h="2108835" w="12736957">
                  <a:moveTo>
                    <a:pt x="0" y="157353"/>
                  </a:moveTo>
                  <a:cubicBezTo>
                    <a:pt x="0" y="70358"/>
                    <a:pt x="70739" y="0"/>
                    <a:pt x="158115" y="0"/>
                  </a:cubicBezTo>
                  <a:lnTo>
                    <a:pt x="12578842" y="0"/>
                  </a:lnTo>
                  <a:lnTo>
                    <a:pt x="12578842" y="6350"/>
                  </a:lnTo>
                  <a:lnTo>
                    <a:pt x="12578842" y="0"/>
                  </a:lnTo>
                  <a:cubicBezTo>
                    <a:pt x="12666091" y="0"/>
                    <a:pt x="12736957" y="70358"/>
                    <a:pt x="12736957" y="157353"/>
                  </a:cubicBezTo>
                  <a:lnTo>
                    <a:pt x="12730607" y="157353"/>
                  </a:lnTo>
                  <a:lnTo>
                    <a:pt x="12736957" y="157353"/>
                  </a:lnTo>
                  <a:lnTo>
                    <a:pt x="12736957" y="1951482"/>
                  </a:lnTo>
                  <a:lnTo>
                    <a:pt x="12730607" y="1951482"/>
                  </a:lnTo>
                  <a:lnTo>
                    <a:pt x="12736957" y="1951482"/>
                  </a:lnTo>
                  <a:cubicBezTo>
                    <a:pt x="12736957" y="2038350"/>
                    <a:pt x="12666218" y="2108835"/>
                    <a:pt x="12578842" y="2108835"/>
                  </a:cubicBezTo>
                  <a:lnTo>
                    <a:pt x="12578842" y="2102485"/>
                  </a:lnTo>
                  <a:lnTo>
                    <a:pt x="12578842" y="2108835"/>
                  </a:lnTo>
                  <a:lnTo>
                    <a:pt x="158115" y="2108835"/>
                  </a:lnTo>
                  <a:lnTo>
                    <a:pt x="158115" y="2102485"/>
                  </a:lnTo>
                  <a:lnTo>
                    <a:pt x="158115" y="2108835"/>
                  </a:lnTo>
                  <a:cubicBezTo>
                    <a:pt x="70739" y="2108835"/>
                    <a:pt x="0" y="2038350"/>
                    <a:pt x="0" y="1951482"/>
                  </a:cubicBezTo>
                  <a:lnTo>
                    <a:pt x="0" y="157353"/>
                  </a:lnTo>
                  <a:lnTo>
                    <a:pt x="6350" y="157353"/>
                  </a:lnTo>
                  <a:lnTo>
                    <a:pt x="0" y="157353"/>
                  </a:lnTo>
                  <a:moveTo>
                    <a:pt x="12700" y="157353"/>
                  </a:moveTo>
                  <a:lnTo>
                    <a:pt x="12700" y="1951482"/>
                  </a:lnTo>
                  <a:lnTo>
                    <a:pt x="6350" y="1951482"/>
                  </a:lnTo>
                  <a:lnTo>
                    <a:pt x="12700" y="1951482"/>
                  </a:lnTo>
                  <a:cubicBezTo>
                    <a:pt x="12700" y="2031365"/>
                    <a:pt x="77724" y="2096135"/>
                    <a:pt x="158115" y="2096135"/>
                  </a:cubicBezTo>
                  <a:lnTo>
                    <a:pt x="12578842" y="2096135"/>
                  </a:lnTo>
                  <a:cubicBezTo>
                    <a:pt x="12659106" y="2096135"/>
                    <a:pt x="12724257" y="2031365"/>
                    <a:pt x="12724257" y="1951482"/>
                  </a:cubicBezTo>
                  <a:lnTo>
                    <a:pt x="12724257" y="157353"/>
                  </a:lnTo>
                  <a:cubicBezTo>
                    <a:pt x="12724257" y="77470"/>
                    <a:pt x="12659106" y="12700"/>
                    <a:pt x="12578842" y="12700"/>
                  </a:cubicBezTo>
                  <a:lnTo>
                    <a:pt x="158115" y="12700"/>
                  </a:lnTo>
                  <a:lnTo>
                    <a:pt x="158115" y="6350"/>
                  </a:lnTo>
                  <a:lnTo>
                    <a:pt x="158115" y="12700"/>
                  </a:lnTo>
                  <a:cubicBezTo>
                    <a:pt x="77724" y="12700"/>
                    <a:pt x="12700" y="77470"/>
                    <a:pt x="12700" y="157353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22474" y="8017817"/>
            <a:ext cx="3369469" cy="44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Business Readiness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474" y="8524429"/>
            <a:ext cx="8985051" cy="52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Analysts need risk tiles and severity scores, not raw JSON logs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282452"/>
            <a:ext cx="9445526" cy="268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Modern Medallion Architecture on Microsoft Fabric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4658618"/>
            <a:ext cx="33630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5318372"/>
            <a:ext cx="33630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Orchestration: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Data Factory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6324749"/>
            <a:ext cx="33630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Compute: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Spark (Python) &amp; T-SQL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7331125"/>
            <a:ext cx="33630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Storage: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OneLake (Bronze/Silver/Gold)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8337500"/>
            <a:ext cx="336306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Serving: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Power BI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4585" y="4658618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4585" y="5318372"/>
            <a:ext cx="5390555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API → </a:t>
            </a:r>
            <a:r>
              <a:rPr lang="en-US" sz="2187" b="true">
                <a:solidFill>
                  <a:srgbClr val="4950BC"/>
                </a:solidFill>
                <a:latin typeface="Inter Bold"/>
                <a:ea typeface="Inter Bold"/>
                <a:cs typeface="Inter Bold"/>
                <a:sym typeface="Inter Bold"/>
              </a:rPr>
              <a:t>Bronze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(Raw) → </a:t>
            </a:r>
            <a:r>
              <a:rPr lang="en-US" sz="2187" b="true">
                <a:solidFill>
                  <a:srgbClr val="4950BC"/>
                </a:solidFill>
                <a:latin typeface="Inter Bold"/>
                <a:ea typeface="Inter Bold"/>
                <a:cs typeface="Inter Bold"/>
                <a:sym typeface="Inter Bold"/>
              </a:rPr>
              <a:t>Silver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(Cleaned) → </a:t>
            </a:r>
            <a:r>
              <a:rPr lang="en-US" sz="2187" b="true">
                <a:solidFill>
                  <a:srgbClr val="4950BC"/>
                </a:solidFill>
                <a:latin typeface="Inter Bold"/>
                <a:ea typeface="Inter Bold"/>
                <a:cs typeface="Inter Bold"/>
                <a:sym typeface="Inter Bold"/>
              </a:rPr>
              <a:t>Gold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(Aggregated Risk Models) → Dashboard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714500"/>
            <a:ext cx="7964538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Ensuring Data Integrity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92238" y="3054251"/>
            <a:ext cx="1417588" cy="1701105"/>
            <a:chOff x="0" y="0"/>
            <a:chExt cx="1890117" cy="22681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5" r="1" b="-5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3342" y="331871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Bronze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3342" y="3865066"/>
            <a:ext cx="7744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ingestion for traceability.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92238" y="4755356"/>
            <a:ext cx="1417588" cy="1701105"/>
            <a:chOff x="0" y="0"/>
            <a:chExt cx="1890117" cy="226814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1" b="-5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693342" y="501982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Silver Layer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3342" y="5566171"/>
            <a:ext cx="7744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Cleaning, schema enforcement, deduplication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92238" y="6456461"/>
            <a:ext cx="1417588" cy="2087315"/>
            <a:chOff x="0" y="0"/>
            <a:chExt cx="1890117" cy="278308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8901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783078"/>
                  </a:lnTo>
                  <a:lnTo>
                    <a:pt x="0" y="278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9" t="0" r="-88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93342" y="672092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Gold Layer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3342" y="7267277"/>
            <a:ext cx="774442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Risk scoring, severity classification, geospatial aggregation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540966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Engineering Business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3115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Traffic Light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690914"/>
            <a:ext cx="437688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Implemented regulatory classification to tag events based on impact: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306890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Micro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(Low)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859637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Moderate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(Medium)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412385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Strong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(High)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401" y="403115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Spatial Binning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70401" y="4690914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Mapping millions of points crashes dashboards.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70401" y="5853261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Solution: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Aggregated data into 1x1 degree geospatial tiles.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70401" y="7015609"/>
            <a:ext cx="437688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Result: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Enabled heat-map visualization of high-density risk zones.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44897" y="839689"/>
            <a:ext cx="9740205" cy="152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Earthquake Risk Explorer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4897" y="2653159"/>
            <a:ext cx="9740205" cy="46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Decision Support System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844897" y="3387030"/>
            <a:ext cx="603498" cy="603497"/>
          </a:xfrm>
          <a:custGeom>
            <a:avLst/>
            <a:gdLst/>
            <a:ahLst/>
            <a:cxnLst/>
            <a:rect r="r" b="b" t="t" l="l"/>
            <a:pathLst>
              <a:path h="603497" w="603498">
                <a:moveTo>
                  <a:pt x="0" y="0"/>
                </a:moveTo>
                <a:lnTo>
                  <a:pt x="603498" y="0"/>
                </a:lnTo>
                <a:lnTo>
                  <a:pt x="603498" y="603497"/>
                </a:lnTo>
                <a:lnTo>
                  <a:pt x="0" y="603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468" t="0" r="-546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0070" y="3520827"/>
            <a:ext cx="3893493" cy="38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High-Significance Monitor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0070" y="3976241"/>
            <a:ext cx="8835032" cy="84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Bubble size relative to maximum significance highlights critical events immediately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844897" y="5307658"/>
            <a:ext cx="603498" cy="603497"/>
          </a:xfrm>
          <a:custGeom>
            <a:avLst/>
            <a:gdLst/>
            <a:ahLst/>
            <a:cxnLst/>
            <a:rect r="r" b="b" t="t" l="l"/>
            <a:pathLst>
              <a:path h="603497" w="603498">
                <a:moveTo>
                  <a:pt x="0" y="0"/>
                </a:moveTo>
                <a:lnTo>
                  <a:pt x="603498" y="0"/>
                </a:lnTo>
                <a:lnTo>
                  <a:pt x="603498" y="603497"/>
                </a:lnTo>
                <a:lnTo>
                  <a:pt x="0" y="603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1875" r="0" b="-2187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50070" y="5441454"/>
            <a:ext cx="3017788" cy="38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Risk Categorization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0070" y="5896868"/>
            <a:ext cx="8835032" cy="46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legend distinguishing high vs. low risk events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844897" y="6842075"/>
            <a:ext cx="603498" cy="603497"/>
          </a:xfrm>
          <a:custGeom>
            <a:avLst/>
            <a:gdLst/>
            <a:ahLst/>
            <a:cxnLst/>
            <a:rect r="r" b="b" t="t" l="l"/>
            <a:pathLst>
              <a:path h="603497" w="603498">
                <a:moveTo>
                  <a:pt x="0" y="0"/>
                </a:moveTo>
                <a:lnTo>
                  <a:pt x="603498" y="0"/>
                </a:lnTo>
                <a:lnTo>
                  <a:pt x="603498" y="603497"/>
                </a:lnTo>
                <a:lnTo>
                  <a:pt x="0" y="603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125" r="0" b="-312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0070" y="6975872"/>
            <a:ext cx="3017788" cy="38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Filtering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0070" y="7431286"/>
            <a:ext cx="8835032" cy="46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Date range sliders to analyze specific event windows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844897" y="8376494"/>
            <a:ext cx="603498" cy="603497"/>
          </a:xfrm>
          <a:custGeom>
            <a:avLst/>
            <a:gdLst/>
            <a:ahLst/>
            <a:cxnLst/>
            <a:rect r="r" b="b" t="t" l="l"/>
            <a:pathLst>
              <a:path h="603497" w="603498">
                <a:moveTo>
                  <a:pt x="0" y="0"/>
                </a:moveTo>
                <a:lnTo>
                  <a:pt x="603498" y="0"/>
                </a:lnTo>
                <a:lnTo>
                  <a:pt x="603498" y="603497"/>
                </a:lnTo>
                <a:lnTo>
                  <a:pt x="0" y="6034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50070" y="8510290"/>
            <a:ext cx="3017788" cy="38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Global Coverage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070" y="8965704"/>
            <a:ext cx="8835032" cy="46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Visualizing events across major fault lines in North America, Asia, and Europe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44044"/>
            <a:chOff x="0" y="0"/>
            <a:chExt cx="24384000" cy="472539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755505"/>
            <a:ext cx="7948315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From Data to Decisions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370290"/>
            <a:ext cx="5198269" cy="80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90%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9275" y="7507635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Reduced Noise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8053982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Filtered out low-impact micro-tremors using significance threshold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4866" y="6370290"/>
            <a:ext cx="5198269" cy="80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0991" y="7507635"/>
            <a:ext cx="384601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Single Source of Truth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8053982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Standardized reporting for seismic risk using the Gold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7494" y="6370290"/>
            <a:ext cx="5198269" cy="80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4533" y="7507635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Actionable Insights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7494" y="8053982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Enabled insurers to identify high-risk zones for premium adjustment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DAG7FlElYDg</dc:identifier>
  <dcterms:modified xsi:type="dcterms:W3CDTF">2011-08-01T06:04:30Z</dcterms:modified>
  <cp:revision>1</cp:revision>
  <dc:title>Global-Seismic-Risk-Profiler.pptx</dc:title>
</cp:coreProperties>
</file>